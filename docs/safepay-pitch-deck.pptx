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SafePay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/>
            </a:pPr>
            <a:r>
              <a:rPr sz="2000" b="0">
                <a:latin typeface="Calibri"/>
              </a:rPr>
              <a:t>Trustless freelance escrow on MST Blockchain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1">
                <a:latin typeface="Calibri"/>
              </a:rPr>
              <a:t>MST Blockchain Buildathon 2.0 — Round 2 MVP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Team: Ronit Shrimankar (solo)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Project: freelance escrow — clients lock payment on-chain, funds release per approved milestone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DRAFT — not submitted. Testnet contract address and transaction hashes below are real, verified on-chain values (28 Oct 2026); remaining TBDs (demo link, repo, video, Mainnet) are filled only with real values when they exist.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Freelance work runs on trust — and trust breaks both ways: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•  </a:t>
            </a:r>
            <a:r>
              <a:rPr sz="1500" b="1">
                <a:latin typeface="Calibri"/>
              </a:rPr>
              <a:t>Clients</a:t>
            </a:r>
            <a:r>
              <a:rPr sz="1500" b="0">
                <a:latin typeface="Calibri"/>
              </a:rPr>
              <a:t> fear paying upfront and getting nothing (or low-quality work)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•  </a:t>
            </a:r>
            <a:r>
              <a:rPr sz="1500" b="1">
                <a:latin typeface="Calibri"/>
              </a:rPr>
              <a:t>Freelancers</a:t>
            </a:r>
            <a:r>
              <a:rPr sz="1500" b="0">
                <a:latin typeface="Calibri"/>
              </a:rPr>
              <a:t> fear delivering work and never getting paid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•  Platforms and middlemen take a cut, yet still can't *enforce* payment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The result: delayed payments, disputes with no neutral arbiter, and freelancers — especially remote ones — carrying all the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The solution: SafePay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A freelance escrow where </a:t>
            </a:r>
            <a:r>
              <a:rPr sz="1500" b="1">
                <a:latin typeface="Calibri"/>
              </a:rPr>
              <a:t>the blockchain itself holds the money</a:t>
            </a:r>
            <a:r>
              <a:rPr sz="1500" b="0"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1. The client creates an escrow with fixed milestones and locks the full amount on-chain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2. The freelancer delivers milestone by milestone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3. The client approves each milestone — only then do funds move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4. Unreleased funds return to the client after the deadline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No middleman holds the money. No one can move funds without the rules being followed.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Demo flow (every step is a real on-chain transaction)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1. </a:t>
            </a:r>
            <a:r>
              <a:rPr sz="1500" b="1">
                <a:latin typeface="Calibri"/>
              </a:rPr>
              <a:t>Create</a:t>
            </a:r>
            <a:r>
              <a:rPr sz="1500" b="0">
                <a:latin typeface="Calibri"/>
              </a:rPr>
              <a:t> — client sets freelancer, milestone amounts, deadline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2. </a:t>
            </a:r>
            <a:r>
              <a:rPr sz="1500" b="1">
                <a:latin typeface="Calibri"/>
              </a:rPr>
              <a:t>Fund</a:t>
            </a:r>
            <a:r>
              <a:rPr sz="1500" b="0">
                <a:latin typeface="Calibri"/>
              </a:rPr>
              <a:t> — client locks exactly the milestone total into the contract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3. </a:t>
            </a:r>
            <a:r>
              <a:rPr sz="1500" b="1">
                <a:latin typeface="Calibri"/>
              </a:rPr>
              <a:t>Approve</a:t>
            </a:r>
            <a:r>
              <a:rPr sz="1500" b="0">
                <a:latin typeface="Calibri"/>
              </a:rPr>
              <a:t> — client approves a delivered milestone (approval alone moves no funds)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4. </a:t>
            </a:r>
            <a:r>
              <a:rPr sz="1500" b="1">
                <a:latin typeface="Calibri"/>
              </a:rPr>
              <a:t>Release</a:t>
            </a:r>
            <a:r>
              <a:rPr sz="1500" b="0">
                <a:latin typeface="Calibri"/>
              </a:rPr>
              <a:t> — the approved milestone's payment goes to the freelancer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5. </a:t>
            </a:r>
            <a:r>
              <a:rPr sz="1500" b="1">
                <a:latin typeface="Calibri"/>
              </a:rPr>
              <a:t>Refund</a:t>
            </a:r>
            <a:r>
              <a:rPr sz="1500" b="0">
                <a:latin typeface="Calibri"/>
              </a:rPr>
              <a:t> — after the deadline, unreleased funds return to the client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Each step is verifiable on the MST explorer — no simulated transactions.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SafePay app (static web app)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│  ethers v6 + injected wallet (BridgeKey-compatible, EIP-1193)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▼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SafePayEscrow smart contract  (Solidity 0.8.24, OpenZeppelin ReentrancyGuard)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│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▼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MST Blockchain — Testnet now, Mainnet next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Testnet: chain 91562037 · tMSTC · testnet.mstscan.com</a:t>
            </a:r>
          </a:p>
          <a:p>
            <a:pPr>
              <a:spcAft>
                <a:spcPts val="400"/>
              </a:spcAft>
            </a:pPr>
            <a:r>
              <a:rPr sz="1100" b="0">
                <a:latin typeface="Consolas"/>
              </a:rPr>
              <a:t>Mainnet: chain 4646 · MSTC · mstscan.com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Native currency only (tMSTC / MSTC) — no extra token needed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Milestones are fixed at escrow creation — terms can't be quietly changed later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Toolchain: Hardhat 2.29 + Toolbox 5, ethers v6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Why the MST integration is genuinely on-chain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SafePay is not a web app with a token bolted on — </a:t>
            </a:r>
            <a:r>
              <a:rPr sz="1300" b="1">
                <a:latin typeface="Calibri"/>
              </a:rPr>
              <a:t>custody of the money IS the contract</a:t>
            </a:r>
            <a:r>
              <a:rPr sz="1300" b="0"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Funds sit in the escrow contract, not in a database or a company account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Every state change (create, fund, approve, release, refund) is a transaction with a verifiable hash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The contract enforces the rules: exact funding amount, client-only funding/approval/refund, no double release, no refund before the deadline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Anyone can read escrow state on-chain (getEscrow, getMilestone) and audit events (EscrowCreated, EscrowFunded, MilestoneApproved, MilestoneReleased, EscrowRefunded)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Calibri"/>
              </a:rPr>
              <a:t>•  ReentrancyGuard protects all fund-moving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Contract functions — SafePayEscrow.sol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6153912"/>
              </a:tblGrid>
              <a:tr h="718457">
                <a:tc>
                  <a:txBody>
                    <a:bodyPr/>
                    <a:lstStyle/>
                    <a:p>
                      <a:r>
                        <a:rPr sz="1300" b="1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What it does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createEscrow(freelancer, amounts[], deadline)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anyone (becomes client)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Creates the escrow; milestones fixed at creation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fund(escrowId) — payable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client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Locks exactly the milestone total; rejects wrong amounts and double funding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approveMilestone(escrowId, 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client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Approves a milestone; moves no funds by itself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releaseMilestone(escrowId, 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anyone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Pays an approved milestone to the freelancer; rejects unapproved or already-released milestones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refund(escrowId)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client only, after 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Returns all still-unreleased funds to the client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getEscrow(id) / getMilestone(id, 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anyone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100"/>
                        <a:t>Read escrow and milestone state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Business potential — startup-convertible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The organizer's Round 2 framing is a business/startup-convertible build. SafePay fits it directly: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•  </a:t>
            </a:r>
            <a:r>
              <a:rPr sz="1500" b="1">
                <a:latin typeface="Calibri"/>
              </a:rPr>
              <a:t>Escrow-as-a-service for freelance platforms</a:t>
            </a:r>
            <a:r>
              <a:rPr sz="1500" b="0">
                <a:latin typeface="Calibri"/>
              </a:rPr>
              <a:t> — plug milestone escrow into any marketplace instead of each platform building custody itself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•  </a:t>
            </a:r>
            <a:r>
              <a:rPr sz="1500" b="1">
                <a:latin typeface="Calibri"/>
              </a:rPr>
              <a:t>Remote and cross-border freelance work</a:t>
            </a:r>
            <a:r>
              <a:rPr sz="1500" b="0">
                <a:latin typeface="Calibri"/>
              </a:rPr>
              <a:t> — payment enforcement that doesn't depend on local courts or payment rails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•  </a:t>
            </a:r>
            <a:r>
              <a:rPr sz="1500" b="1">
                <a:latin typeface="Calibri"/>
              </a:rPr>
              <a:t>Milestone-based project payments</a:t>
            </a:r>
            <a:r>
              <a:rPr sz="1500" b="0">
                <a:latin typeface="Calibri"/>
              </a:rPr>
              <a:t> — agencies, contractors, and gig work beyond freelancing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latin typeface="Calibri"/>
              </a:rPr>
              <a:t>Future work (not built yet): platform fees, multi-freelancer escrows, mediation for disputed milestones. The MVP proves the core — on-chain custody and release —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latin typeface="Calibri"/>
              </a:defRPr>
            </a:pPr>
            <a:r>
              <a:t>Status and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latin typeface="Calibri"/>
              </a:rPr>
              <a:t>Proven locally (Phase 1, recorded in the project README):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Contract compiles cleanly (Solidity 0.8.24)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6/6 Hardhat tests passing: create (+ bad-input reverts), fund rules, approve + release (exact payment, no double-spend), refund rules, full end-to-end flow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Local-node end-to-end run passed (local network only — </a:t>
            </a:r>
            <a:r>
              <a:rPr sz="1200" b="1">
                <a:latin typeface="Calibri"/>
              </a:rPr>
              <a:t>not</a:t>
            </a:r>
            <a:r>
              <a:rPr sz="1200" b="0">
                <a:latin typeface="Calibri"/>
              </a:rPr>
              <a:t> testnet proof)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1">
                <a:latin typeface="Calibri"/>
              </a:rPr>
              <a:t>Testnet deployment — DONE and verified on-chain (28 Oct 2026, MST Testnet, chain ID 91562037):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Testnet contract address: </a:t>
            </a:r>
            <a:r>
              <a:rPr sz="1200" b="1">
                <a:latin typeface="Calibri"/>
              </a:rPr>
              <a:t>0xd330F3F7cD35FA2512592dCC0aD75381aF3798F5</a:t>
            </a:r>
            <a:r>
              <a:rPr sz="1200" b="0">
                <a:latin typeface="Calibri"/>
              </a:rPr>
              <a:t> — https://testnet.mstscan.com/address/0xd330F3F7cD35FA2512592dCC0aD75381aF3798F5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Deploy tx: </a:t>
            </a:r>
            <a:r>
              <a:rPr sz="1200" b="1">
                <a:latin typeface="Calibri"/>
              </a:rPr>
              <a:t>0x7843d0788f8781eda9cf665ad361382c0b42cca29d484ed6a6d3b14313e6d5a6</a:t>
            </a:r>
            <a:r>
              <a:rPr sz="1200" b="0">
                <a:latin typeface="Calibri"/>
              </a:rPr>
              <a:t> (block 6634177)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createEscrow(0): </a:t>
            </a:r>
            <a:r>
              <a:rPr sz="1200" b="1">
                <a:latin typeface="Calibri"/>
              </a:rPr>
              <a:t>0xcb04b4620a87c271a81cdecd35c41d3669e0a948aa8fcfa3e7110d474bf02c97</a:t>
            </a:r>
            <a:r>
              <a:rPr sz="1200" b="0">
                <a:latin typeface="Calibri"/>
              </a:rPr>
              <a:t> (block 6634184)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fund(0) — 1.0 tMSTC: </a:t>
            </a:r>
            <a:r>
              <a:rPr sz="1200" b="1">
                <a:latin typeface="Calibri"/>
              </a:rPr>
              <a:t>0x8cc61e2a097946d60ebff2d3bb78d0353dfc3b9dfe6ed56bea16882ff54796f6</a:t>
            </a:r>
            <a:r>
              <a:rPr sz="1200" b="0">
                <a:latin typeface="Calibri"/>
              </a:rPr>
              <a:t> (block 6634185)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approveMilestone(0,0): </a:t>
            </a:r>
            <a:r>
              <a:rPr sz="1200" b="1">
                <a:latin typeface="Calibri"/>
              </a:rPr>
              <a:t>0xd989e5a12c6b273b20bc3dd26f0d06c67baac4df765591d7b5ca62388f799614</a:t>
            </a:r>
            <a:r>
              <a:rPr sz="1200" b="0">
                <a:latin typeface="Calibri"/>
              </a:rPr>
              <a:t> (block 6634186)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releaseMilestone(0,0) — 0.6 tMSTC paid: </a:t>
            </a:r>
            <a:r>
              <a:rPr sz="1200" b="1">
                <a:latin typeface="Calibri"/>
              </a:rPr>
              <a:t>0xed56b2e2a5ca61db25d9e6ebca393d4e20578fb89b436dfd309272a4e2b08fd3</a:t>
            </a:r>
            <a:r>
              <a:rPr sz="1200" b="0">
                <a:latin typeface="Calibri"/>
              </a:rPr>
              <a:t> (block 6634187)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approveMilestone(0,1): </a:t>
            </a:r>
            <a:r>
              <a:rPr sz="1200" b="1">
                <a:latin typeface="Calibri"/>
              </a:rPr>
              <a:t>0xb4b8265d3600f7dbc9ef1ac8dcfa1256f853ad51cd82296b68d8336d60b23aeb</a:t>
            </a:r>
            <a:r>
              <a:rPr sz="1200" b="0">
                <a:latin typeface="Calibri"/>
              </a:rPr>
              <a:t> (block 6634188)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releaseMilestone(0,1) — 0.4 tMSTC paid: </a:t>
            </a:r>
            <a:r>
              <a:rPr sz="1200" b="1">
                <a:latin typeface="Calibri"/>
              </a:rPr>
              <a:t>0x02265040e5958643db3ab81070701297b2f209f22fafef8b1601eb8344840af7</a:t>
            </a:r>
            <a:r>
              <a:rPr sz="1200" b="0">
                <a:latin typeface="Calibri"/>
              </a:rPr>
              <a:t> (block 6634189)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createEscrow(1) — refund path: </a:t>
            </a:r>
            <a:r>
              <a:rPr sz="1200" b="1">
                <a:latin typeface="Calibri"/>
              </a:rPr>
              <a:t>0x52513072e3a27a06f9fe7c916098df10e4978087b1c37276bfa91b5e8322fdfe</a:t>
            </a:r>
            <a:r>
              <a:rPr sz="1200" b="0">
                <a:latin typeface="Calibri"/>
              </a:rPr>
              <a:t> (block 6634190)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fund(1) — 0.5 tMSTC: </a:t>
            </a:r>
            <a:r>
              <a:rPr sz="1200" b="1">
                <a:latin typeface="Calibri"/>
              </a:rPr>
              <a:t>0x9a04c4d9f47bc1babdc93d2ee33799a161fd0fdde6a7cfaedf38752503abacac</a:t>
            </a:r>
            <a:r>
              <a:rPr sz="1200" b="0">
                <a:latin typeface="Calibri"/>
              </a:rPr>
              <a:t> (block 6634191)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refund(1) — 0.5 tMSTC returned: </a:t>
            </a:r>
            <a:r>
              <a:rPr sz="1200" b="1">
                <a:latin typeface="Calibri"/>
              </a:rPr>
              <a:t>0xd64105d11df29d1d0de8c68e550ffe72e30920803412d7a388ed445f471cdb9d</a:t>
            </a:r>
            <a:r>
              <a:rPr sz="1200" b="0">
                <a:latin typeface="Calibri"/>
              </a:rPr>
              <a:t> (block 6634192)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All 10 receipts confirmed successful (status 0x1) via the official Testnet RPC; contract bytecode verified on-chain. Explorer page fetch timed out and was not retried — verify visually at the links above.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Live demo link: </a:t>
            </a:r>
            <a:r>
              <a:rPr sz="1200" b="1">
                <a:latin typeface="Calibri"/>
              </a:rPr>
              <a:t>TBD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Public GitHub repository: </a:t>
            </a:r>
            <a:r>
              <a:rPr sz="1200" b="1">
                <a:latin typeface="Calibri"/>
              </a:rPr>
              <a:t>TBD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Demo video (2–3 min): </a:t>
            </a:r>
            <a:r>
              <a:rPr sz="1200" b="1">
                <a:latin typeface="Calibri"/>
              </a:rPr>
              <a:t>TBD</a:t>
            </a: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•  Mainnet deployment details: </a:t>
            </a:r>
            <a:r>
              <a:rPr sz="1200" b="1">
                <a:latin typeface="Calibri"/>
              </a:rPr>
              <a:t>TBD</a:t>
            </a:r>
            <a:r>
              <a:rPr sz="1200" b="0">
                <a:latin typeface="Calibri"/>
              </a:rPr>
              <a:t> (organizer-provided funds)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latin typeface="Calibri"/>
              </a:rPr>
              <a:t>Round 2 submission deadline: </a:t>
            </a:r>
            <a:r>
              <a:rPr sz="1200" b="1">
                <a:latin typeface="Calibri"/>
              </a:rPr>
              <a:t>30 Oct 2026, 12:00 PM IST</a:t>
            </a:r>
            <a:r>
              <a:rPr sz="1200" b="0">
                <a:latin typeface="Calibri"/>
              </a:rPr>
              <a:t> · Demo Day: </a:t>
            </a:r>
            <a:r>
              <a:rPr sz="1200" b="1">
                <a:latin typeface="Calibri"/>
              </a:rPr>
              <a:t>1 Nov 2026, MST office Pune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