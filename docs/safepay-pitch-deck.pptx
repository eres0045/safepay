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latin typeface="Calibri"/>
              </a:defRPr>
            </a:pPr>
            <a:r>
              <a:t>SafePay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/>
            </a:pPr>
            <a:r>
              <a:rPr sz="2000" b="0">
                <a:latin typeface="Calibri"/>
              </a:rPr>
              <a:t>Trustless freelance escrow on MST Blockchain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500" b="1">
                <a:latin typeface="Calibri"/>
              </a:rPr>
              <a:t>MST Blockchain Buildathon 2.0 — Round 2 MVP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Team: FORTEC — Ronit Shrimankar (solo builder)</a:t>
            </a:r>
          </a:p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Project: freelance escrow — clients lock payment on-chain, funds release per approved milestone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DRAFT — not submitted. Testnet contract address and transaction hashes below are real, verified on-chain values (28 Oct 2026); remaining TBDs (video, Mainnet) are filled only with real values when they exist.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Freelance work runs on trust — and trust breaks both ways: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•  </a:t>
            </a:r>
            <a:r>
              <a:rPr sz="1500" b="1">
                <a:latin typeface="Calibri"/>
              </a:rPr>
              <a:t>Clients</a:t>
            </a:r>
            <a:r>
              <a:rPr sz="1500" b="0">
                <a:latin typeface="Calibri"/>
              </a:rPr>
              <a:t> fear paying upfront and getting nothing (or low-quality work)</a:t>
            </a:r>
          </a:p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•  </a:t>
            </a:r>
            <a:r>
              <a:rPr sz="1500" b="1">
                <a:latin typeface="Calibri"/>
              </a:rPr>
              <a:t>Freelancers</a:t>
            </a:r>
            <a:r>
              <a:rPr sz="1500" b="0">
                <a:latin typeface="Calibri"/>
              </a:rPr>
              <a:t> fear delivering work and never getting paid</a:t>
            </a:r>
          </a:p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•  Platforms and middlemen take a cut, yet still can't *enforce* payment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The result: delayed payments, disputes with no neutral arbiter, and freelancers — especially remote ones — carrying all the risk.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latin typeface="Calibri"/>
              </a:defRPr>
            </a:pPr>
            <a:r>
              <a:t>The solution: SafePay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A freelance escrow where </a:t>
            </a:r>
            <a:r>
              <a:rPr sz="1500" b="1">
                <a:latin typeface="Calibri"/>
              </a:rPr>
              <a:t>the blockchain itself holds the money</a:t>
            </a:r>
            <a:r>
              <a:rPr sz="1500" b="0"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1. The client creates an escrow with fixed milestones and locks the full amount on-chain</a:t>
            </a:r>
          </a:p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2. The freelancer delivers milestone by milestone, recorded on-chain with proof</a:t>
            </a:r>
          </a:p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3. The client approves each milestone — only then do funds move</a:t>
            </a:r>
          </a:p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4. Unreleased, unapproved, undelivered funds return to the client after the deadline; delivered work is claimable by the freelancer instead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No middleman holds the money. No one can move funds without the rules being followed.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latin typeface="Calibri"/>
              </a:defRPr>
            </a:pPr>
            <a:r>
              <a:t>Demo flow (every step is a real on-chain transaction)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Demo flow (every step is a real on-chain transaction)</a:t>
            </a:r>
          </a:p>
          <a:p>
            <a:r>
              <a:rPr sz="1500" b="0">
                <a:latin typeface="Calibri"/>
              </a:rPr>
              <a:t>1. Create — client sets freelancer, milestone amounts, deadline</a:t>
            </a:r>
          </a:p>
          <a:p>
            <a:r>
              <a:rPr sz="1500" b="0">
                <a:latin typeface="Calibri"/>
              </a:rPr>
              <a:t>2. Fund — client locks exactly the milestone total into the contract</a:t>
            </a:r>
          </a:p>
          <a:p>
            <a:r>
              <a:rPr sz="1500" b="0">
                <a:latin typeface="Calibri"/>
              </a:rPr>
              <a:t>3. Deliver — freelancer records delivery on-chain with proof</a:t>
            </a:r>
          </a:p>
          <a:p>
            <a:r>
              <a:rPr sz="1500" b="0">
                <a:latin typeface="Calibri"/>
              </a:rPr>
              <a:t>4. Approve — client approves a delivered milestone (approval alone moves no funds)</a:t>
            </a:r>
          </a:p>
          <a:p>
            <a:r>
              <a:rPr sz="1500" b="0">
                <a:latin typeface="Calibri"/>
              </a:rPr>
              <a:t>5. Release — the approved milestone’s payment goes to the freelancer</a:t>
            </a:r>
          </a:p>
          <a:p>
            <a:r>
              <a:rPr sz="1500" b="0">
                <a:latin typeface="Calibri"/>
              </a:rPr>
              <a:t>6. Claim — after the deadline, delivered-but-unapproved work is claimable by the freelancer</a:t>
            </a:r>
          </a:p>
          <a:p>
            <a:r>
              <a:rPr sz="1500" b="0">
                <a:latin typeface="Calibri"/>
              </a:rPr>
              <a:t>7. Refund — after the deadline, only unapproved, undelivered funds return to the client</a:t>
            </a:r>
          </a:p>
          <a:p>
            <a:r>
              <a:rPr sz="1500" b="0">
                <a:latin typeface="Calibri"/>
              </a:rPr>
              <a:t/>
            </a:r>
          </a:p>
          <a:p>
            <a:r>
              <a:rPr sz="1500" b="0">
                <a:latin typeface="Calibri"/>
              </a:rPr>
              <a:t>Each step is verifiable on the MST explorer — no simulated transactions.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latin typeface="Consolas"/>
              </a:rPr>
              <a:t>SafePay app (static web app)</a:t>
            </a:r>
          </a:p>
          <a:p>
            <a:pPr>
              <a:spcAft>
                <a:spcPts val="400"/>
              </a:spcAft>
            </a:pPr>
            <a:r>
              <a:rPr sz="1100" b="0">
                <a:latin typeface="Consolas"/>
              </a:rPr>
              <a:t>│  ethers v6 + injected wallet (BridgeKey-compatible, EIP-1193)</a:t>
            </a:r>
          </a:p>
          <a:p>
            <a:pPr>
              <a:spcAft>
                <a:spcPts val="400"/>
              </a:spcAft>
            </a:pPr>
            <a:r>
              <a:rPr sz="1100" b="0">
                <a:latin typeface="Consolas"/>
              </a:rPr>
              <a:t>▼</a:t>
            </a:r>
          </a:p>
          <a:p>
            <a:pPr>
              <a:spcAft>
                <a:spcPts val="400"/>
              </a:spcAft>
            </a:pPr>
            <a:r>
              <a:rPr sz="1100" b="0">
                <a:latin typeface="Consolas"/>
              </a:rPr>
              <a:t>SafePayEscrow smart contract  (Solidity 0.8.24, OpenZeppelin ReentrancyGuard)</a:t>
            </a:r>
          </a:p>
          <a:p>
            <a:pPr>
              <a:spcAft>
                <a:spcPts val="400"/>
              </a:spcAft>
            </a:pPr>
            <a:r>
              <a:rPr sz="1100" b="0">
                <a:latin typeface="Consolas"/>
              </a:rPr>
              <a:t>│</a:t>
            </a:r>
          </a:p>
          <a:p>
            <a:pPr>
              <a:spcAft>
                <a:spcPts val="400"/>
              </a:spcAft>
            </a:pPr>
            <a:r>
              <a:rPr sz="1100" b="0">
                <a:latin typeface="Consolas"/>
              </a:rPr>
              <a:t>▼</a:t>
            </a:r>
          </a:p>
          <a:p>
            <a:pPr>
              <a:spcAft>
                <a:spcPts val="400"/>
              </a:spcAft>
            </a:pPr>
            <a:r>
              <a:rPr sz="1100" b="0">
                <a:latin typeface="Consolas"/>
              </a:rPr>
              <a:t>MST Blockchain — Testnet now, Mainnet next</a:t>
            </a:r>
          </a:p>
          <a:p>
            <a:pPr>
              <a:spcAft>
                <a:spcPts val="400"/>
              </a:spcAft>
            </a:pPr>
            <a:r>
              <a:rPr sz="1100" b="0">
                <a:latin typeface="Consolas"/>
              </a:rPr>
              <a:t>Testnet: chain 91562037 · tMSTC · testnet.mstscan.com</a:t>
            </a:r>
          </a:p>
          <a:p>
            <a:pPr>
              <a:spcAft>
                <a:spcPts val="400"/>
              </a:spcAft>
            </a:pPr>
            <a:r>
              <a:rPr sz="1100" b="0">
                <a:latin typeface="Consolas"/>
              </a:rPr>
              <a:t>Mainnet: chain 4646 · MSTC · mstscan.com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•  Native currency only (tMSTC / MSTC) — no extra token needed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•  Milestones are fixed at escrow creation — terms can't be quietly changed later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•  Toolchain: Hardhat 2.29 + Toolbox 5, ethers v6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latin typeface="Calibri"/>
              </a:defRPr>
            </a:pPr>
            <a:r>
              <a:t>Why the MST integration is genuinely on-chain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SafePay is not a web app with a token bolted on — </a:t>
            </a:r>
            <a:r>
              <a:rPr sz="1300" b="1">
                <a:latin typeface="Calibri"/>
              </a:rPr>
              <a:t>custody of the money IS the contract</a:t>
            </a:r>
            <a:r>
              <a:rPr sz="1300" b="0"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•  Funds sit in the escrow contract, not in a database or a company account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•  Every state change (create, fund, approve, deliver, release, claim, refund) is a transaction with a verifiable hash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•  The contract enforces the rules: exact funding amount, client-only funding/approval/refund, no double release, no refund before the deadline, approved/delivered funds locked against refunds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•  Anyone can read escrow state on-chain (getEscrow, getMilestone) and audit events (EscrowCreated, EscrowFunded, MilestoneApproved, MilestoneDelivered, MilestoneReleased, EscrowRefunded)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•  ReentrancyGuard protects all fund-moving functions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latin typeface="Calibri"/>
              </a:defRPr>
            </a:pPr>
            <a:r>
              <a:t>Contract functions — SafePayEscrow.sol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74552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  <a:gridCol w="6153912"/>
              </a:tblGrid>
              <a:tr h="718457">
                <a:tc>
                  <a:txBody>
                    <a:bodyPr/>
                    <a:lstStyle/>
                    <a:p>
                      <a:r>
                        <a:rPr sz="1300" b="1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Who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What it does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/>
                        <a:t>createEscrow(freelancer, amounts[], deadline)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/>
                        <a:t>anyone (becomes client)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/>
                        <a:t>Creates the escrow; milestones fixed at creation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/>
                        <a:t>fund(escrowId) — payable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/>
                        <a:t>client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/>
                        <a:t>Locks exactly the milestone total; rejects wrong amounts and double funding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/>
                        <a:t>approveMilestone(escrowId, index)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/>
                        <a:t>client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/>
                        <a:t>Approves a milestone; moves no funds by itself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/>
                        <a:t>releaseMilestone(escrowId, index)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/>
                        <a:t>anyone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/>
                        <a:t>Pays an approved milestone to the freelancer; rejects unapproved or already-released milestones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/>
                        <a:t>refund(escrowId)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/>
                        <a:t>client only, after deadline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/>
                        <a:t>Returns only unapproved, undelivered funds; approved/delivered funds are locked</a:t>
                      </a:r>
                    </a:p>
                  </a:txBody>
                  <a:tcPr/>
                </a:tc>
              </a:tr>
              <a:tr h="71845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/>
                        <a:t>getEscrow(id) / getMilestone(id, index)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/>
                        <a:t>anyone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/>
                        <a:t>Read escrow and milestone state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/>
                        <a:t>submitDelivery(escrowId, index, proof)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/>
                        <a:t>freelancer only, before deadline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/>
                        <a:t>Records delivery on-chain with a proof link; moves no funds by itself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/>
                        <a:t>claimDelivered(escrowId, index)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/>
                        <a:t>freelancer only, after deadline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/>
                        <a:t>Pays delivered-but-unapproved work; the anti-ghosting path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latin typeface="Calibri"/>
              </a:defRPr>
            </a:pPr>
            <a:r>
              <a:t>Business potential — startup-convertible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The organizer's Round 2 framing is a business/startup-convertible build. SafePay fits it directly: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•  </a:t>
            </a:r>
            <a:r>
              <a:rPr sz="1500" b="1">
                <a:latin typeface="Calibri"/>
              </a:rPr>
              <a:t>Escrow-as-a-service for freelance platforms</a:t>
            </a:r>
            <a:r>
              <a:rPr sz="1500" b="0">
                <a:latin typeface="Calibri"/>
              </a:rPr>
              <a:t> — plug milestone escrow into any marketplace instead of each platform building custody itself</a:t>
            </a:r>
          </a:p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•  </a:t>
            </a:r>
            <a:r>
              <a:rPr sz="1500" b="1">
                <a:latin typeface="Calibri"/>
              </a:rPr>
              <a:t>Remote and cross-border freelance work</a:t>
            </a:r>
            <a:r>
              <a:rPr sz="1500" b="0">
                <a:latin typeface="Calibri"/>
              </a:rPr>
              <a:t> — payment enforcement that doesn't depend on local courts or payment rails</a:t>
            </a:r>
          </a:p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•  </a:t>
            </a:r>
            <a:r>
              <a:rPr sz="1500" b="1">
                <a:latin typeface="Calibri"/>
              </a:rPr>
              <a:t>Milestone-based project payments</a:t>
            </a:r>
            <a:r>
              <a:rPr sz="1500" b="0">
                <a:latin typeface="Calibri"/>
              </a:rPr>
              <a:t> — agencies, contractors, and gig work beyond freelancing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Future work (not built yet): platform fees, multi-freelancer escrows, third-party arbitration. Delivery proof and deadline-claim are already built. The MVP proves the core — on-chain custody and release — first.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latin typeface="Calibri"/>
              </a:defRPr>
            </a:pPr>
            <a:r>
              <a:t>Status and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latin typeface="Calibri"/>
              </a:rPr>
              <a:t>Proven locally (Phase 1, recorded in the project README):</a:t>
            </a:r>
          </a:p>
          <a:p>
            <a:r>
              <a:rPr sz="1200" b="1">
                <a:latin typeface="Calibri"/>
              </a:rPr>
              <a:t/>
            </a:r>
          </a:p>
          <a:p>
            <a:r>
              <a:rPr sz="1200" b="1">
                <a:latin typeface="Calibri"/>
              </a:rPr>
              <a:t>•  Contract compiles cleanly (Solidity 0.8.24)</a:t>
            </a:r>
          </a:p>
          <a:p>
            <a:r>
              <a:rPr sz="1200" b="1">
                <a:latin typeface="Calibri"/>
              </a:rPr>
              <a:t>•  11/11 Hardhat tests passing: v1 flows plus v2 delivery rules, deadline-claim, and refund-lock (partial + full)</a:t>
            </a:r>
          </a:p>
          <a:p>
            <a:r>
              <a:rPr sz="1200" b="1">
                <a:latin typeface="Calibri"/>
              </a:rPr>
              <a:t>•  Local-node end-to-end run passed (local network only — not testnet proof)</a:t>
            </a:r>
          </a:p>
          <a:p>
            <a:r>
              <a:rPr sz="1200" b="1">
                <a:latin typeface="Calibri"/>
              </a:rPr>
              <a:t/>
            </a:r>
          </a:p>
          <a:p>
            <a:r>
              <a:rPr sz="1200" b="1">
                <a:latin typeface="Calibri"/>
              </a:rPr>
              <a:t>Testnet deployment — DONE and verified on-chain (28 Oct 2026, MST Testnet, chain ID 91562037):</a:t>
            </a:r>
          </a:p>
          <a:p>
            <a:r>
              <a:rPr sz="1200" b="1">
                <a:latin typeface="Calibri"/>
              </a:rPr>
              <a:t/>
            </a:r>
          </a:p>
          <a:p>
            <a:r>
              <a:rPr sz="1200" b="1">
                <a:latin typeface="Calibri"/>
              </a:rPr>
              <a:t>•  Testnet contract address (v2): 0x40854b8c2436504FFB30Ac89298Da24eC434a905 — https://testnet.mstscan.com/address/0x40854b8c2436504FFB30Ac89298Da24eC434a905</a:t>
            </a:r>
          </a:p>
          <a:p>
            <a:r>
              <a:rPr sz="1200" b="1">
                <a:latin typeface="Calibri"/>
              </a:rPr>
              <a:t>•  Deploy tx (v2): 0x6e52a3661e5a044893ce16153c6005458f9b5ea15f953d3fb78e6ead8a185fde (block 6636444)</a:t>
            </a:r>
          </a:p>
          <a:p>
            <a:r>
              <a:rPr sz="1200" b="1">
                <a:latin typeface="Calibri"/>
              </a:rPr>
              <a:t>•  Escrow 0 — approve/release flow, 1.0 tMSTC released: create 0xf858ba38563de2bb63557444afb0fbad89673e0af621fba969e474e5f950cc3c, fund 0x9fa2ecc82171bb83f24c762faed7da34dc908d07759eb11fa468f42415bc82ef, approve 0x6c66730ff8a957e7deb2d7bbf2037aab767ee140289cec5f31cbd9c0d62ebddb, release 0x0ad76f8200adebc9706dbfe5e1acefbc1af6bf75a15f41aa2831ada0ce903a91, approve 0x0092e15702275a5f3739695f7d95e89cf7d791820f49b01269b01fbe8e6317b5, release 0x5e95af131e29c98b2585e476d96f9740a220b8e94caa57a67f23f8de5db9aef4</a:t>
            </a:r>
          </a:p>
          <a:p>
            <a:r>
              <a:rPr sz="1200" b="1">
                <a:latin typeface="Calibri"/>
              </a:rPr>
              <a:t>•  Escrow 1 — refund path, 0.5 tMSTC returned: create 0x063ada4f597a54965720657f850a8aabc8db4da80483006e05ee9b243fe3a65a, fund 0x233281aec91bd9506944af7089cadb7b1948ef263b5dbb741ade340d73754b1c, refund 0xc136c1b9fdfc75eae0f4da53ac3d715c8f073c663e09f9bf273190305ed94fa2</a:t>
            </a:r>
          </a:p>
          <a:p>
            <a:r>
              <a:rPr sz="1200" b="1">
                <a:latin typeface="Calibri"/>
              </a:rPr>
              <a:t>•  Escrow 2 — delivery + deadline-claim, 0.5 tMSTC claimed with no approval: create 0x20d7b3786e2b735ee0bb5370d457147019d6cf0ffe7327883187e93d61828322, fund 0x634636255f5a43de502152500be599bdd31e38bf0d8b2fc5207c7b64bc795e61, deliver 0x26fbc6190634d8a187c78bf891857ee40a21ef1a0bd119a77f9fc55c0fc47352, claim 0x79687f07a2c5d330aa1a63d4baddb8c9971aa78911895a226688b7d1b22ce7a7</a:t>
            </a:r>
          </a:p>
          <a:p>
            <a:r>
              <a:rPr sz="1200" b="1">
                <a:latin typeface="Calibri"/>
              </a:rPr>
              <a:t>•  Escrow 3 — refund-lock, 0.6 released + 0.6 refunded + 0.4 claimed (delivered funds NOT swept): create 0xc5693a6e957d67e7e220a336eee2d6d29d5e2bc1b07dcf735bd3b4e838d073f1, fund 0xb5783109d7d65ff422a0adf9006e032003237f5df6137d99cca808a7b9f942ca, deliver 0xa2d2d116d5276b2b07bf5b5884251e2b5d7ca0b3bc1cc297bd9968f2acd91a5a, approve 0x7c8155647ea58295dde6279a8b5cef32cd5145a5501915c3beb4a4ef65f7110d, release 0x40d585b97fb26a9ebd4fa54e3f4492496d19eb55871bbb4a28c43c3538c2a2fb, refund 0x043afd53052c8475c176090d8499d56f1981b6537623ed8d4f98f33cd5d23962, claim 0x1b6de3266d7b0cd1beb9e32fb4b811d5e990cce515f87598e606e5206eb0796f</a:t>
            </a:r>
          </a:p>
          <a:p>
            <a:r>
              <a:rPr sz="1200" b="1">
                <a:latin typeface="Calibri"/>
              </a:rPr>
              <a:t>•  All 22 receipts confirmed successful (status 0x1) via the official Testnet RPC; contract bytecode verified on-chain; final states re-read on-chain.</a:t>
            </a:r>
          </a:p>
          <a:p>
            <a:r>
              <a:rPr sz="1200" b="1">
                <a:latin typeface="Calibri"/>
              </a:rPr>
              <a:t>•  Live demo link: https://eres0045.github.io/safepay/app/</a:t>
            </a:r>
          </a:p>
          <a:p>
            <a:r>
              <a:rPr sz="1200" b="1">
                <a:latin typeface="Calibri"/>
              </a:rPr>
              <a:t>•  Public GitHub repository: https://github.com/eres0045/safepay</a:t>
            </a:r>
          </a:p>
          <a:p>
            <a:r>
              <a:rPr sz="1200" b="1">
                <a:latin typeface="Calibri"/>
              </a:rPr>
              <a:t>•  Demo video (2–3 min): TBD</a:t>
            </a:r>
          </a:p>
          <a:p>
            <a:r>
              <a:rPr sz="1200" b="1">
                <a:latin typeface="Calibri"/>
              </a:rPr>
              <a:t>•  Mainnet deployment details: TBD (organizer-provided funds)</a:t>
            </a:r>
          </a:p>
          <a:p>
            <a:r>
              <a:rPr sz="1200" b="1">
                <a:latin typeface="Calibri"/>
              </a:rPr>
              <a:t/>
            </a:r>
          </a:p>
          <a:p>
            <a:r>
              <a:rPr sz="1200" b="1">
                <a:latin typeface="Calibri"/>
              </a:rPr>
              <a:t>Round 2 submission deadline: 30 Oct 2026, 12:00 PM IST · Demo Day: 1 Nov 2026, MST office Pune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